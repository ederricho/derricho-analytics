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60" r:id="rId6"/>
    <p:sldId id="259" r:id="rId7"/>
    <p:sldId id="263" r:id="rId8"/>
    <p:sldId id="262" r:id="rId9"/>
    <p:sldId id="264" r:id="rId10"/>
    <p:sldId id="270" r:id="rId11"/>
    <p:sldId id="268" r:id="rId12"/>
    <p:sldId id="274" r:id="rId13"/>
    <p:sldId id="265" r:id="rId14"/>
    <p:sldId id="271" r:id="rId15"/>
    <p:sldId id="276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E95187-1A79-4F4E-A263-CE9285CB7A9A}">
          <p14:sldIdLst>
            <p14:sldId id="256"/>
            <p14:sldId id="257"/>
            <p14:sldId id="258"/>
          </p14:sldIdLst>
        </p14:section>
        <p14:section name="Overview" id="{827F20E8-E27B-480B-AB02-3031B42B3144}">
          <p14:sldIdLst>
            <p14:sldId id="275"/>
            <p14:sldId id="260"/>
          </p14:sldIdLst>
        </p14:section>
        <p14:section name="Performance" id="{5890C9AF-3298-405A-B1FD-B0B3957119AE}">
          <p14:sldIdLst>
            <p14:sldId id="259"/>
            <p14:sldId id="263"/>
            <p14:sldId id="262"/>
          </p14:sldIdLst>
        </p14:section>
        <p14:section name="Risk" id="{D5605CA3-5946-47FA-B665-A725A46442D4}">
          <p14:sldIdLst>
            <p14:sldId id="264"/>
            <p14:sldId id="270"/>
            <p14:sldId id="268"/>
            <p14:sldId id="274"/>
          </p14:sldIdLst>
        </p14:section>
        <p14:section name="Benchmark" id="{6B481071-20FF-43C5-A7B4-951997B39333}">
          <p14:sldIdLst>
            <p14:sldId id="265"/>
            <p14:sldId id="271"/>
          </p14:sldIdLst>
        </p14:section>
        <p14:section name="Specific Stocks" id="{5939A81B-E559-4221-93FD-64D48C31C8EA}">
          <p14:sldIdLst>
            <p14:sldId id="276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603C-BA9B-5253-6C40-1D34B6F7C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507CB-3196-2D02-D63D-593ECAF2A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1C4E9-E332-D542-BE8E-D6C49B35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AE6E-26BD-166F-AC70-22D068C7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5F5AE-2F94-E35D-12E9-3FC57170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3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40F3-E133-DCC1-1A48-D7683535D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7B5E-6BBC-ECF6-D80D-4127FC2D0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EEE0D-6EB9-C857-2E8A-8E7F473A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A4B0-D479-61AD-1BAF-9CFF99F5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9BABD-AA0B-0945-F0CA-0891B3BD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6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5837-B6CB-A634-7DC0-666FE0E7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709D1-688D-8B08-110E-8082E253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0206C-6F4C-9D05-E852-A1E1B278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66DD8-8933-250A-373D-7ACDA9CF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4C5EB-81C4-A182-8CA1-CBBE080B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C293-F145-1CAC-8268-4C0A392B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2E98F-A49D-6D97-D93D-E7614111F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F2E49-4CC2-401B-4087-3A4AD5CF7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3C5E3-1113-757F-CC0A-FFDD25AC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5845-FB89-F07C-A8C7-74A9CDF2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E5299-BCEB-35D8-12EC-23751A51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1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F1CF-197E-896B-C52E-D1CE6AB1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1AE0-B667-2B90-0A83-607D15359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57504-1E41-4971-470D-BFDAF9B35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B2CCED-3785-380F-FEC4-17A68AA32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3434B6-1973-4D2D-72F0-CEDCFF094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326B3-9DED-DBA2-D0B2-1C00FDB2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CD5DB-7130-9082-CFBC-610FEF23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A95EF-471F-07B7-AC2A-BAFEAE4A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ACCE-FB8D-FC14-E916-ED7E7443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177B9-9E3D-0ED1-4960-B4E7292A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12D6-D480-B2E7-F180-C3518CE0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B3625-2CDA-E7F8-F571-AB10B0AE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E5902-C5B6-E6FA-A24A-8B980396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AAF6C-E4C1-288E-2CE7-83838DDE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66A9B-E1D8-9F4F-5E48-C8B90F9E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2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8CF2-AA0D-B6F4-E2B4-67E9A5FE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A517-EC53-FF76-73AA-45FD8F6D9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2A0D4-65F5-71F7-3CED-50D833490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829F2-CEAE-EA1B-B051-5A927BBA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609D0-06B7-37C6-AF19-150744C6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D37C2-422F-7366-934D-FE538DFB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95DE-BC83-3650-F4C6-D48D8CAC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64695-5F44-064A-F3E4-D6A5F9D0A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27658-AAE0-C5B5-E90C-246EB425F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D6BFC-DEEF-8172-F12C-30C24168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6109B-114E-78C0-8E23-C7F43AD8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4A6A7-9E59-CA10-E5F0-A3C6A049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3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6ED9-D16F-C5FC-BEC7-6ABD3B20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C55F6-BF01-E7B7-C7DF-F1B51AFAB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9095-5B73-3FA4-F352-6BCCA49B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4459A-86F8-3CBC-BF9F-462759C5E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C2E3-1D24-76D1-2FA1-4892F24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4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E25365-B194-B89A-D711-3F1E849C1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9C758-C8F1-B4DF-CBD4-8F41DF186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4AD9-919D-B0F2-891F-8B650D13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607C0-7D83-B3D6-66D0-774B75B62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A860B-3A86-E1AC-C442-9412A825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3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42D41D-5FCE-EF8A-DE35-8EE57F41B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CB6E5-17A4-BFC0-5A12-51E87F9F5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84142-D88B-C2EF-7490-0E020990B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8ADBB-55D0-40F9-945D-F7DDAE5664E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9838-31CB-C2A3-EAE2-7EE29D9B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0B0F5-0A78-DC72-E6B7-5B1F15B7F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1A56B-3EC3-43ED-8ED1-E45E6D5AE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70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2FBE0-CBA6-8E15-412C-13B23765F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Portfolio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C9C14-A1B0-E026-230B-94E49D9D1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/>
              <a:t>Week of 9/14/26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2C8E3-DECB-CD90-9F30-79FDD3EA2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D7062F-F279-0BD3-5EA6-464D5B7FF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9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9CA5C-54F1-B1DA-0B36-FE5D0DC5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Presentation Outline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F926F-6244-BB78-A76A-7AF7392B2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Overview of Mission and Objective</a:t>
            </a:r>
          </a:p>
          <a:p>
            <a:r>
              <a:rPr lang="en-US" sz="2200"/>
              <a:t>Portfolio Overview</a:t>
            </a:r>
          </a:p>
          <a:p>
            <a:r>
              <a:rPr lang="en-US" sz="2200"/>
              <a:t>Portfolio Analytics</a:t>
            </a:r>
          </a:p>
          <a:p>
            <a:r>
              <a:rPr lang="en-US" sz="2200"/>
              <a:t>Conclusion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EB0A93-4DF4-ED2E-D112-9C368D7FE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247077-EC48-1EF2-D6FF-581201151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A344D-941B-17A5-8A42-E8447D76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Mission and Objective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DBF67-912D-2E67-2B11-7783A72CF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This portfolio is created to analyze investment trends.</a:t>
            </a:r>
          </a:p>
          <a:p>
            <a:pPr lvl="1"/>
            <a:r>
              <a:rPr lang="en-US" sz="1800" dirty="0"/>
              <a:t>I am not a financial advisor, investment guru, etc.</a:t>
            </a:r>
          </a:p>
          <a:p>
            <a:pPr lvl="1"/>
            <a:r>
              <a:rPr lang="en-US" sz="1800" dirty="0"/>
              <a:t>I am not telling you which stocks to choose; I am analyzing a portfolio.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AA50B1-64F9-C42F-0B2E-FE3505EE5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4EB16D-22AD-C310-99F7-9D90B9829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6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93DF9-C80F-AE7D-F6B5-EDAC59D4B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Portfolio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DD6D-73C5-FA69-237B-D16BB0098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/>
              <a:t>8-stock portfolio</a:t>
            </a:r>
          </a:p>
          <a:p>
            <a:pPr lvl="1"/>
            <a:r>
              <a:rPr lang="en-US" sz="2200"/>
              <a:t>Sectors: Banking, Insurance &amp; Managed Healthcare, Technology, Food &amp; Drug </a:t>
            </a:r>
          </a:p>
          <a:p>
            <a:r>
              <a:rPr lang="en-US" sz="2200"/>
              <a:t>Total cash at purchase: $100,000</a:t>
            </a:r>
          </a:p>
          <a:p>
            <a:r>
              <a:rPr lang="en-US" sz="2200"/>
              <a:t>Initial purchase date of stocks: January 2, 2026</a:t>
            </a:r>
          </a:p>
        </p:txBody>
      </p:sp>
    </p:spTree>
    <p:extLst>
      <p:ext uri="{BB962C8B-B14F-4D97-AF65-F5344CB8AC3E}">
        <p14:creationId xmlns:p14="http://schemas.microsoft.com/office/powerpoint/2010/main" val="187665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8B0C6-6BC9-8A7D-FDC5-6EC8B809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Portfolio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B33D-31BD-2DE5-64A5-80E5E5413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400" dirty="0"/>
              <a:t>Highest asset allocation sector is in Insurance &amp; Managed Healthcare</a:t>
            </a:r>
          </a:p>
          <a:p>
            <a:r>
              <a:rPr lang="en-US" sz="2400" dirty="0"/>
              <a:t>Individual Allocation located in the appendix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C2D1CB-4575-C494-84C6-70340B984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546" y="2052828"/>
            <a:ext cx="5825371" cy="302209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9D25360-98F1-0D45-3EFA-CB31209C1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51576"/>
            <a:ext cx="1106528" cy="110652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34B801B-E6DE-8F37-D10A-4A7137B1C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1560"/>
            <a:ext cx="1186543" cy="118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9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5D143-D75D-BC2C-7374-38466F60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latin typeface="+mj-lt"/>
                <a:ea typeface="+mj-ea"/>
                <a:cs typeface="+mj-cs"/>
              </a:rPr>
              <a:t>Portfolio </a:t>
            </a:r>
            <a:r>
              <a:rPr lang="en-US" sz="3400" dirty="0"/>
              <a:t>Performance Overview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D003-26EE-948E-380E-4B88D76BE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kern="1200" dirty="0">
                <a:latin typeface="+mn-lt"/>
                <a:ea typeface="+mn-ea"/>
                <a:cs typeface="+mn-cs"/>
              </a:rPr>
              <a:t>Portfolio value: </a:t>
            </a:r>
            <a:r>
              <a:rPr lang="en-US" sz="1800" dirty="0"/>
              <a:t>$103,234.93</a:t>
            </a:r>
            <a:endParaRPr lang="en-US" sz="1800" kern="1200" dirty="0">
              <a:latin typeface="+mn-lt"/>
              <a:ea typeface="+mn-ea"/>
              <a:cs typeface="+mn-cs"/>
            </a:endParaRPr>
          </a:p>
          <a:p>
            <a:r>
              <a:rPr lang="en-US" sz="1800" dirty="0"/>
              <a:t>Cash: $ 9,424.05</a:t>
            </a:r>
          </a:p>
          <a:p>
            <a:r>
              <a:rPr lang="en-US" sz="1800" kern="1200" dirty="0">
                <a:latin typeface="+mn-lt"/>
                <a:ea typeface="+mn-ea"/>
                <a:cs typeface="+mn-cs"/>
              </a:rPr>
              <a:t>YTD Return: 6.87%</a:t>
            </a:r>
          </a:p>
          <a:p>
            <a:r>
              <a:rPr lang="en-US" sz="1800" dirty="0"/>
              <a:t>No sales since January 2, 2026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20F780-38E1-24AD-24A4-43A945FC3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114" y="2303829"/>
            <a:ext cx="6512746" cy="19008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6EE2549-EB69-7D38-0268-9CA1F05B6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69977B2-5F34-AB5F-D4CE-E3F5F3070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23DD1-A53F-8639-4C67-6AF3659B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A9FAB-016B-F785-E433-855A8A0C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Portfolio Performance -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47CE0-2547-76A5-7170-B6455B3F9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Since January 2, 2026, the return has steadily increased and sits at 6.87%.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216CE-6902-A44F-223F-A2B51E56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22" y="1464133"/>
            <a:ext cx="6355428" cy="44964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49542C-3FD8-C095-EA41-DB049DA1C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6440"/>
            <a:ext cx="1051664" cy="105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3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589C9-D36A-E395-6CB1-159D0C29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11836-F716-CA33-ED2A-D799B502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Portfolio Contribution -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0E398-4399-6AED-B2E2-1F923EE7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r>
              <a:rPr lang="en-US" sz="2400" dirty="0"/>
              <a:t>Total Return: 6.87%</a:t>
            </a:r>
          </a:p>
          <a:p>
            <a:r>
              <a:rPr lang="en-US" sz="2400" dirty="0"/>
              <a:t>Banking sector has the lowest contribution.</a:t>
            </a:r>
            <a:endParaRPr lang="en-US" sz="2000" dirty="0"/>
          </a:p>
          <a:p>
            <a:r>
              <a:rPr lang="en-US" sz="2400" dirty="0"/>
              <a:t>Insurance &amp; Managed Healthcare has the most contribution.</a:t>
            </a:r>
          </a:p>
          <a:p>
            <a:r>
              <a:rPr lang="en-US" sz="2400" i="1" dirty="0"/>
              <a:t>Individual Stock Contribution located in the appendix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F5235-6878-24C2-46D5-98796D51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4738"/>
            <a:ext cx="5398259" cy="36485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1A7A23-E7B2-5281-9197-9815B0891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42536"/>
            <a:ext cx="1115568" cy="111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8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1E636-4F92-D613-469B-C0A8FF2D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1FC35-444E-986A-14DB-F8741C22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Portfolio Risk / Drawdown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3E189-36D2-CE28-EBE4-EBBE51B5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Max drawdown is -8.75% with a 9-trading day recovery.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283C79-55EF-8DA7-0B6C-45F62295C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DF97B2-DE50-3080-8B56-AD4440812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BB0EBE-4C9C-62DC-9E4E-C7C54ED70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179" y="1140650"/>
            <a:ext cx="6929907" cy="507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39BC8-4B82-5969-0569-1339011B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0A00FD3-11CF-FADA-D42C-70F6076C9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FDAF3-AEE7-1292-BF5F-A1A676401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Annualized Volatility – By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D5A51-AD40-B7D7-A231-676CA19DA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The highest volatility is in the technology sector.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8853C6-FFA2-8F47-B8A9-166B16031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3ADBA4-83EA-A218-3028-1A3159A81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180633-73E3-EB75-0A54-73A1F917A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4118"/>
            <a:ext cx="1443986" cy="14439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5118CA-45A3-456B-0966-C342ED134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7460C8-1EC4-9CBD-581F-1AD106EC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53" y="1377571"/>
            <a:ext cx="6896952" cy="414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42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9FD99-15A1-BCAF-B9DB-6E2B225CB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Exposure Score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A953815-C077-7C19-DC57-6B2C12C06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000" dirty="0"/>
              <a:t>Measured using returns and volatility</a:t>
            </a:r>
          </a:p>
          <a:p>
            <a:r>
              <a:rPr lang="en-US" sz="2000" dirty="0"/>
              <a:t>Technology poses the greatest risk exposure in the portfolio</a:t>
            </a:r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D5922-40D6-2A73-3776-9DEB23E9F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0228"/>
            <a:ext cx="957876" cy="957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98EBD7-7CE8-283C-860B-5D1C6B70E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604" y="1804324"/>
            <a:ext cx="5870172" cy="352834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E4E2512-1728-558A-A6BD-D2A4D8DBC0CE}"/>
              </a:ext>
            </a:extLst>
          </p:cNvPr>
          <p:cNvSpPr/>
          <p:nvPr/>
        </p:nvSpPr>
        <p:spPr>
          <a:xfrm>
            <a:off x="5861304" y="4215385"/>
            <a:ext cx="850392" cy="349823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9E280C-6B5D-CF1C-1778-67626573A983}"/>
              </a:ext>
            </a:extLst>
          </p:cNvPr>
          <p:cNvCxnSpPr>
            <a:cxnSpLocks/>
            <a:stCxn id="3" idx="5"/>
            <a:endCxn id="8" idx="0"/>
          </p:cNvCxnSpPr>
          <p:nvPr/>
        </p:nvCxnSpPr>
        <p:spPr>
          <a:xfrm>
            <a:off x="6587159" y="4513978"/>
            <a:ext cx="1290397" cy="1386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4692F12-112F-6B3C-FE02-3A46995E07EC}"/>
              </a:ext>
            </a:extLst>
          </p:cNvPr>
          <p:cNvSpPr txBox="1"/>
          <p:nvPr/>
        </p:nvSpPr>
        <p:spPr>
          <a:xfrm>
            <a:off x="5376672" y="5900228"/>
            <a:ext cx="500176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Banking allocation is 4.91% while I&amp;M is 36.82%</a:t>
            </a:r>
          </a:p>
        </p:txBody>
      </p:sp>
    </p:spTree>
    <p:extLst>
      <p:ext uri="{BB962C8B-B14F-4D97-AF65-F5344CB8AC3E}">
        <p14:creationId xmlns:p14="http://schemas.microsoft.com/office/powerpoint/2010/main" val="62594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79BCC-7128-502D-3AFE-A8029664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E4F9057-31A7-D166-0C90-BC925389F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2ED4D-6964-9055-4E2A-162CDE1A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Exposure Score vs. Return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C66DDAE5-8D0F-0078-BA78-E9122B42A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sz="2000" dirty="0"/>
              <a:t>Technology pose the greatest risk exposure in the portfolio while Insurance &amp; Managed Healthcare show the greatest return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870C60-A76A-40DF-C5F8-0998421D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A36A02-CC5D-501A-4E6F-B2410BAAA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6C3AFB-90F7-299C-B6FB-401981976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1992"/>
            <a:ext cx="896112" cy="896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E23C6B-6627-CA20-2A80-A5E934A15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668" y="2200496"/>
            <a:ext cx="5988957" cy="24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6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6E184-879F-CB35-A993-E8304617C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347F2-70D0-39BC-F382-2F303E37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Benchmark Comparison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382C-C4C4-0B56-156F-30E525ED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Portfolio does not perform as well as the S&amp;P 500 in return or risk metrics.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1DA03-8522-8E01-B59F-85AC67C1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13" y="2918328"/>
            <a:ext cx="7207504" cy="25586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943FB4-6B20-65D1-2BDF-4DA4DBC43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674" y="1288534"/>
            <a:ext cx="5071383" cy="10725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992C83-0434-8B8D-070B-02A1476F1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636"/>
            <a:ext cx="1122467" cy="11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2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E7EB-22FD-4CB1-D77A-156DFF1B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DD47-A59D-D1BE-0FAB-579C650DE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Allocation</a:t>
            </a:r>
          </a:p>
          <a:p>
            <a:pPr lvl="1"/>
            <a:r>
              <a:rPr lang="en-US" dirty="0"/>
              <a:t>Highest Allocation: Insurance &amp; Managed Healthcare (36.82%)</a:t>
            </a:r>
          </a:p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YTD Portfolio Return: 6.87%</a:t>
            </a:r>
          </a:p>
          <a:p>
            <a:pPr lvl="1"/>
            <a:r>
              <a:rPr lang="en-US" dirty="0"/>
              <a:t>Insurance and Managed Healthcare has the highest return to contribution.</a:t>
            </a:r>
          </a:p>
          <a:p>
            <a:r>
              <a:rPr lang="en-US" dirty="0"/>
              <a:t>Risk</a:t>
            </a:r>
          </a:p>
          <a:p>
            <a:pPr lvl="1"/>
            <a:r>
              <a:rPr lang="en-US" dirty="0"/>
              <a:t>Technology carries the highest risk.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56437-3C81-475C-9184-973F96867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31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B3E0BD-0509-ABD3-1C27-CBA3B1461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EBB8A6-4A69-39E2-1C3E-1CA8E49522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0576C-8D0E-519D-DE9B-88E91BDEC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9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38A7-CD62-482F-EF19-2A43338C1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A: Portfolio Allocation – Specific Stocks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5B8C2-F3FA-6282-7982-1A1DFB4E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561" y="1690688"/>
            <a:ext cx="7868878" cy="46121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568A84-60E1-27F5-378C-79C1CD065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52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FDB4-F801-1D8B-BBA1-3B5365EF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AD47-90AF-4E68-3F59-F6902052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B: Contribution – Specific Stocks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6F9E7E-9695-1C8F-05C3-9FBA2C3FF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37" y="1690688"/>
            <a:ext cx="7717326" cy="4831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917D8A-080E-2C20-7B55-CC9A8906B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3080"/>
            <a:ext cx="1335024" cy="133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7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341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Portfolio Update</vt:lpstr>
      <vt:lpstr>Presentation Outline</vt:lpstr>
      <vt:lpstr>Mission and Objective</vt:lpstr>
      <vt:lpstr>Portfolio Overview</vt:lpstr>
      <vt:lpstr>Portfolio Allocation</vt:lpstr>
      <vt:lpstr>Portfolio Performance Overview</vt:lpstr>
      <vt:lpstr>Portfolio Performance - Return</vt:lpstr>
      <vt:lpstr>Portfolio Contribution - Return</vt:lpstr>
      <vt:lpstr>Portfolio Risk / Drawdown</vt:lpstr>
      <vt:lpstr>Annualized Volatility – By Sector</vt:lpstr>
      <vt:lpstr>Risk Exposure Score</vt:lpstr>
      <vt:lpstr>Risk Exposure Score vs. Return</vt:lpstr>
      <vt:lpstr>Benchmark Comparison</vt:lpstr>
      <vt:lpstr>Portfolio Review</vt:lpstr>
      <vt:lpstr>Appendix</vt:lpstr>
      <vt:lpstr>A: Portfolio Allocation – Specific Stocks</vt:lpstr>
      <vt:lpstr>B: Contribution – Specific Stocks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Derricho</dc:creator>
  <cp:lastModifiedBy>Edgar Derricho</cp:lastModifiedBy>
  <cp:revision>11</cp:revision>
  <dcterms:created xsi:type="dcterms:W3CDTF">2026-09-18T19:04:14Z</dcterms:created>
  <dcterms:modified xsi:type="dcterms:W3CDTF">2026-09-21T20:24:48Z</dcterms:modified>
</cp:coreProperties>
</file>